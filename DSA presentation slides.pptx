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9" d="100"/>
          <a:sy n="49" d="100"/>
        </p:scale>
        <p:origin x="72" y="9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7899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005840" cy="10058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3" name="Image 0" descr="icons/FaTraffic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0287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33172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GROUP 1  (UNO)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</a:t>
            </a:r>
            <a:r>
              <a:rPr lang="en-US" sz="2200" dirty="0" smtClean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</a:t>
            </a:r>
            <a:r>
              <a:rPr lang="en-US" sz="22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Speed Detection System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822960" y="384048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computer-vision pipeline for automatic speed estimation, </a:t>
            </a:r>
            <a:r>
              <a:rPr lang="en-US" sz="1400" dirty="0" smtClean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Traffic-light </a:t>
            </a:r>
            <a:r>
              <a:rPr lang="en-US" sz="14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surveillance, and licence-plate offender logging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5989320"/>
            <a:ext cx="3840480" cy="0"/>
          </a:xfrm>
          <a:prstGeom prst="line">
            <a:avLst/>
          </a:prstGeom>
          <a:noFill/>
          <a:ln w="12700">
            <a:solidFill>
              <a:srgbClr val="212C3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22960" y="6126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ja-JP" altLang="en-US" b="1" dirty="0">
                <a:solidFill>
                  <a:schemeClr val="bg1"/>
                </a:solidFill>
              </a:rPr>
              <a:t>もう大丈夫！なぜって？私が来た！</a:t>
            </a:r>
            <a:r>
              <a:rPr lang="ja-JP" altLang="en-US" sz="1400" dirty="0">
                <a:solidFill>
                  <a:schemeClr val="bg1"/>
                </a:solidFill>
              </a:rPr>
              <a:t/>
            </a:r>
            <a:br>
              <a:rPr lang="ja-JP" altLang="en-US" sz="1400" dirty="0">
                <a:solidFill>
                  <a:schemeClr val="bg1"/>
                </a:solidFill>
              </a:rPr>
            </a:br>
            <a:r>
              <a:rPr lang="en-US" altLang="ja-JP" i="1" dirty="0">
                <a:solidFill>
                  <a:schemeClr val="bg1"/>
                </a:solidFill>
              </a:rPr>
              <a:t>(</a:t>
            </a:r>
            <a:r>
              <a:rPr lang="en-US" i="1" dirty="0" err="1">
                <a:solidFill>
                  <a:schemeClr val="bg1"/>
                </a:solidFill>
              </a:rPr>
              <a:t>Mō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daijōbu</a:t>
            </a:r>
            <a:r>
              <a:rPr lang="en-US" i="1" dirty="0">
                <a:solidFill>
                  <a:schemeClr val="bg1"/>
                </a:solidFill>
              </a:rPr>
              <a:t>! </a:t>
            </a:r>
            <a:r>
              <a:rPr lang="en-US" i="1" dirty="0" err="1">
                <a:solidFill>
                  <a:schemeClr val="bg1"/>
                </a:solidFill>
              </a:rPr>
              <a:t>Naze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tte</a:t>
            </a:r>
            <a:r>
              <a:rPr lang="en-US" i="1" dirty="0">
                <a:solidFill>
                  <a:schemeClr val="bg1"/>
                </a:solidFill>
              </a:rPr>
              <a:t>? </a:t>
            </a:r>
            <a:r>
              <a:rPr lang="en-US" i="1" dirty="0" err="1">
                <a:solidFill>
                  <a:schemeClr val="bg1"/>
                </a:solidFill>
              </a:rPr>
              <a:t>Watashi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ga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kita</a:t>
            </a:r>
            <a:r>
              <a:rPr lang="en-US" i="1" dirty="0">
                <a:solidFill>
                  <a:schemeClr val="bg1"/>
                </a:solidFill>
              </a:rPr>
              <a:t>!)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endParaRPr lang="en-US" sz="1250" dirty="0">
              <a:solidFill>
                <a:schemeClr val="bg1"/>
              </a:solidFill>
            </a:endParaRPr>
          </a:p>
          <a:p>
            <a:pPr marL="0" indent="0">
              <a:lnSpc>
                <a:spcPct val="130000"/>
              </a:lnSpc>
              <a:buNone/>
            </a:pPr>
            <a:endParaRPr lang="en-US" sz="125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</a:t>
            </a:r>
            <a:r>
              <a:rPr lang="en-US" sz="3000" b="1" dirty="0" smtClean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does </a:t>
            </a: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43000"/>
            <a:ext cx="10908792" cy="1051560"/>
          </a:xfrm>
          <a:prstGeom prst="roundRect">
            <a:avLst>
              <a:gd name="adj" fmla="val 10435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2801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Picture a busy interchange in </a:t>
            </a:r>
            <a:r>
              <a:rPr lang="en-US" sz="1450" i="1" dirty="0" err="1" smtClean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Kubwa</a:t>
            </a:r>
            <a:r>
              <a:rPr lang="en-US" sz="1450" i="1" dirty="0" smtClean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Abuja: </a:t>
            </a:r>
            <a:r>
              <a:rPr lang="en-US" sz="1450" i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officer watches for red-light runners, another aims a speed gun, a third writes down number plates. T</a:t>
            </a:r>
            <a:r>
              <a:rPr lang="en-US" sz="1450" i="1" dirty="0" smtClean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system is </a:t>
            </a:r>
            <a:r>
              <a:rPr lang="en-US" sz="1450" i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camera feed doing all three jobs at once, on every single frame, without ever getting tired.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3456432" cy="2788920"/>
          </a:xfrm>
          <a:prstGeom prst="roundRect">
            <a:avLst>
              <a:gd name="adj" fmla="val 3934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788920"/>
            <a:ext cx="685800" cy="68580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7" name="Image 0" descr="icons/FaGaugeHig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" y="295351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61188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Pipeline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050792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optical flow + Depth Anything V2 + a Kalman filter convert raw pixel motion into a real km/h reading, automatically, on any camera angle.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70832" y="2514600"/>
            <a:ext cx="3456432" cy="2788920"/>
          </a:xfrm>
          <a:prstGeom prst="roundRect">
            <a:avLst>
              <a:gd name="adj" fmla="val 3934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45152" y="2788920"/>
            <a:ext cx="685800" cy="6858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2" name="Image 1" descr="icons/FaTraffic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295351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45152" y="361188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 Pipeline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45152" y="4050792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YOLOv11 classifier reads the traffic light itself and flags red-light violations for every tracked vehicle.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8101584" y="2514600"/>
            <a:ext cx="3456432" cy="2788920"/>
          </a:xfrm>
          <a:prstGeom prst="roundRect">
            <a:avLst>
              <a:gd name="adj" fmla="val 3934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375904" y="2788920"/>
            <a:ext cx="685800" cy="68580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17" name="Image 2" descr="icons/FaIdC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40496" y="295351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3611880"/>
            <a:ext cx="2907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OCR &amp; Logging Pipeline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75904" y="4050792"/>
            <a:ext cx="290779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plates are read after the fact from the clearest buffered crops and exported to a violation log.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40080" y="55321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pipelines run together, frame by frame, on a single free Google Colab T4 GPU - three custom-trained YOLOv11 models working alongside RAFT, Depth Anything V2, and EasyOCR.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Earlier Projects Couldn't Do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reference projects were studied. Of their documented limitations, five are directly addressed by Namikaze Sama: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65960"/>
            <a:ext cx="502920" cy="50292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6" name="Image 0" descr="icons/Fa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2086661"/>
            <a:ext cx="261518" cy="26151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Nabeel-99 / smart-surveillance-system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743200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9" name="Image 1" descr="icons/FaTriangle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284607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36192" y="2706624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ran live, on a single frame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536192" y="3090672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blurry or motion-blurred - no second chance at a clearer read.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914400" y="3886200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3" name="Image 2" descr="icons/FaTriangle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398907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36192" y="3849624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manual stop line had to be drawn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536192" y="4233672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hand, on the first frame, for every new camera setup.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914400" y="5029200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7" name="Image 3" descr="icons/FaTriangle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513207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536192" y="4992624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light read by HSV colour heuristics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536192" y="5376672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trained model - easily confused by glare, shadows, or brake lights.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291072" y="169164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565392" y="1965960"/>
            <a:ext cx="502920" cy="502920"/>
          </a:xfrm>
          <a:prstGeom prst="ellipse">
            <a:avLst/>
          </a:prstGeom>
          <a:solidFill>
            <a:srgbClr val="B97F00"/>
          </a:solidFill>
          <a:ln/>
        </p:spPr>
      </p:sp>
      <p:pic>
        <p:nvPicPr>
          <p:cNvPr id="22" name="Image 4" descr="icons/FaGaugeHig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093" y="2086661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05472" y="1947672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Detection</a:t>
            </a:r>
            <a:endParaRPr lang="en-US" sz="1600" dirty="0"/>
          </a:p>
          <a:p>
            <a:pPr marL="0" indent="0">
              <a:buNone/>
            </a:pPr>
            <a:r>
              <a:rPr lang="en-US" sz="1100" dirty="0">
                <a:solidFill>
                  <a:srgbClr val="5B6B7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jayy-agu / SpeedDetection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6565392" y="2743200"/>
            <a:ext cx="457200" cy="457200"/>
          </a:xfrm>
          <a:prstGeom prst="ellipse">
            <a:avLst/>
          </a:prstGeom>
          <a:solidFill>
            <a:srgbClr val="B97F00"/>
          </a:solidFill>
          <a:ln/>
        </p:spPr>
      </p:sp>
      <p:pic>
        <p:nvPicPr>
          <p:cNvPr id="25" name="Image 5" descr="icons/FaTriangle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262" y="2846070"/>
            <a:ext cx="251460" cy="2514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187184" y="2706624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hard-coded to one camera angle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7187184" y="3090672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anchor points pinned by hand to a specific pole and lens - move the camera, redo it all.</a:t>
            </a:r>
            <a:endParaRPr lang="en-US" sz="1100" dirty="0"/>
          </a:p>
        </p:txBody>
      </p:sp>
      <p:sp>
        <p:nvSpPr>
          <p:cNvPr id="28" name="Shape 20"/>
          <p:cNvSpPr/>
          <p:nvPr/>
        </p:nvSpPr>
        <p:spPr>
          <a:xfrm>
            <a:off x="6565392" y="3886200"/>
            <a:ext cx="457200" cy="457200"/>
          </a:xfrm>
          <a:prstGeom prst="ellipse">
            <a:avLst/>
          </a:prstGeom>
          <a:solidFill>
            <a:srgbClr val="B97F00"/>
          </a:solidFill>
          <a:ln/>
        </p:spPr>
      </p:sp>
      <p:pic>
        <p:nvPicPr>
          <p:cNvPr id="29" name="Image 6" descr="icons/FaTriangleExclam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262" y="3989070"/>
            <a:ext cx="251460" cy="251460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187184" y="3849624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depth signal at all</a:t>
            </a:r>
            <a:endParaRPr lang="en-US" sz="1300" dirty="0"/>
          </a:p>
        </p:txBody>
      </p:sp>
      <p:sp>
        <p:nvSpPr>
          <p:cNvPr id="31" name="Text 22"/>
          <p:cNvSpPr/>
          <p:nvPr/>
        </p:nvSpPr>
        <p:spPr>
          <a:xfrm>
            <a:off x="7187184" y="4233672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came from pixel motion alone; how far the vehicle actually was from the lens was simply ignored.</a:t>
            </a:r>
            <a:endParaRPr lang="en-US" sz="1100" dirty="0"/>
          </a:p>
        </p:txBody>
      </p:sp>
      <p:sp>
        <p:nvSpPr>
          <p:cNvPr id="32" name="Text 23"/>
          <p:cNvSpPr/>
          <p:nvPr/>
        </p:nvSpPr>
        <p:spPr>
          <a:xfrm>
            <a:off x="6565392" y="5120640"/>
            <a:ext cx="4709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detection had only two documented limitations in total - both are solved.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Solved Them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5257800" cy="5074920"/>
          </a:xfrm>
          <a:prstGeom prst="roundRect">
            <a:avLst>
              <a:gd name="adj" fmla="val 2162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46304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5" name="Image 0" descr="icons/Fa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158374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5544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Surveillance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14400" y="21031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8" name="Image 1" descr="icons/F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220599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36192" y="2066544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deferred until the vehicle leaves frame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536192" y="2450592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5 of the sharpest buffered crops are voted on, not just one snapshot.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914400" y="3401568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2" name="Image 2" descr="icons/F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3504438"/>
            <a:ext cx="251460" cy="2514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6192" y="3364992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line to draw, ever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1536192" y="3749040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Violations come straight from the trained traffic-light model - works the moment the camera is mounted.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914400" y="4700016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16" name="Image 3" descr="icons/F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270" y="4802886"/>
            <a:ext cx="251460" cy="2514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36192" y="4663440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dedicated YOLOv11 classifier for the light itself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536192" y="5047488"/>
            <a:ext cx="40873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real red / green / yellow examples; colour heuristics are gone entirely.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291072" y="1188720"/>
            <a:ext cx="5257800" cy="5074920"/>
          </a:xfrm>
          <a:prstGeom prst="roundRect">
            <a:avLst>
              <a:gd name="adj" fmla="val 2162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6565392" y="1463040"/>
            <a:ext cx="502920" cy="50292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1" name="Image 4" descr="icons/FaGaugeHig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6093" y="158374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205472" y="1554480"/>
            <a:ext cx="4069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Speed Detection</a:t>
            </a:r>
            <a:endParaRPr lang="en-US" sz="1600" dirty="0"/>
          </a:p>
        </p:txBody>
      </p:sp>
      <p:sp>
        <p:nvSpPr>
          <p:cNvPr id="23" name="Shape 16"/>
          <p:cNvSpPr/>
          <p:nvPr/>
        </p:nvSpPr>
        <p:spPr>
          <a:xfrm>
            <a:off x="6565392" y="210312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4" name="Image 5" descr="icons/F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262" y="2205990"/>
            <a:ext cx="251460" cy="25146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7187184" y="2066544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Camera-agnostic by design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7187184" y="2450592"/>
            <a:ext cx="4087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 Anything V2 estimates depth fresh from every single frame - no manual setup, no fixed anchor points.</a:t>
            </a:r>
            <a:endParaRPr lang="en-US" sz="1100" dirty="0"/>
          </a:p>
        </p:txBody>
      </p:sp>
      <p:sp>
        <p:nvSpPr>
          <p:cNvPr id="27" name="Shape 19"/>
          <p:cNvSpPr/>
          <p:nvPr/>
        </p:nvSpPr>
        <p:spPr>
          <a:xfrm>
            <a:off x="6565392" y="3794760"/>
            <a:ext cx="457200" cy="457200"/>
          </a:xfrm>
          <a:prstGeom prst="ellipse">
            <a:avLst/>
          </a:prstGeom>
          <a:solidFill>
            <a:srgbClr val="2E8B57"/>
          </a:solidFill>
          <a:ln/>
        </p:spPr>
      </p:sp>
      <p:pic>
        <p:nvPicPr>
          <p:cNvPr id="28" name="Image 6" descr="icons/Fa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262" y="3897630"/>
            <a:ext cx="251460" cy="25146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187184" y="3758184"/>
            <a:ext cx="4087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depth feeds the speed formula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7187184" y="4142232"/>
            <a:ext cx="40873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pixel motion now means a different real speed up close than far away - exactly as it should.</a:t>
            </a:r>
            <a:endParaRPr lang="en-US" sz="1100" dirty="0"/>
          </a:p>
        </p:txBody>
      </p:sp>
      <p:sp>
        <p:nvSpPr>
          <p:cNvPr id="31" name="Shape 22"/>
          <p:cNvSpPr/>
          <p:nvPr/>
        </p:nvSpPr>
        <p:spPr>
          <a:xfrm>
            <a:off x="6291072" y="4709160"/>
            <a:ext cx="5257800" cy="1554480"/>
          </a:xfrm>
          <a:prstGeom prst="roundRect">
            <a:avLst>
              <a:gd name="adj" fmla="val 7059"/>
            </a:avLst>
          </a:prstGeom>
          <a:solidFill>
            <a:srgbClr val="EAEFF3"/>
          </a:solidFill>
          <a:ln/>
        </p:spPr>
      </p:sp>
      <p:sp>
        <p:nvSpPr>
          <p:cNvPr id="32" name="Text 23"/>
          <p:cNvSpPr/>
          <p:nvPr/>
        </p:nvSpPr>
        <p:spPr>
          <a:xfrm>
            <a:off x="6565392" y="4873752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</a:t>
            </a: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limitation either project documented about its own approach to speed estimation no longer applies - Namikaze Sama needs no recalibration and no fixed camera position.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Surveillance, Frame by Frame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2542032" cy="233172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591056" y="1463040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5" name="Image 0" descr="icons/Fa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675" y="1616659"/>
            <a:ext cx="332842" cy="33284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2402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Scan the full frame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4672" y="27157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traffic_model.predict() runs on the entire frame, every frame, at conf = 0.6 - lights anywhere in view are caught.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182112" y="20574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C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3429000" y="1234440"/>
            <a:ext cx="2542032" cy="233172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79976" y="1463040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1" name="Image 1" descr="icons/FaTrafficLigh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3595" y="161665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93592" y="22402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Classify the light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593592" y="27157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is_red_light() checks whether 'red' appears in the detected class name - catching 'red' and 'red_light' alike.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971032" y="20574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C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1"/>
          <p:cNvSpPr/>
          <p:nvPr/>
        </p:nvSpPr>
        <p:spPr>
          <a:xfrm>
            <a:off x="6217920" y="1234440"/>
            <a:ext cx="2542032" cy="233172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68896" y="1463040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7" name="Image 2" descr="icons/FaCarSi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2515" y="1616659"/>
            <a:ext cx="332842" cy="33284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2512" y="22402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Flag tracked vehicles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382512" y="27157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flag is true, every vehicle ByteTrack is currently following gets 'red_light' added to its offender set.</a:t>
            </a:r>
            <a:endParaRPr lang="en-US" sz="1050" dirty="0"/>
          </a:p>
        </p:txBody>
      </p:sp>
      <p:sp>
        <p:nvSpPr>
          <p:cNvPr id="20" name="Text 15"/>
          <p:cNvSpPr/>
          <p:nvPr/>
        </p:nvSpPr>
        <p:spPr>
          <a:xfrm>
            <a:off x="8759952" y="2057400"/>
            <a:ext cx="246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B6B7C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9006840" y="1234440"/>
            <a:ext cx="2542032" cy="2331720"/>
          </a:xfrm>
          <a:prstGeom prst="roundRect">
            <a:avLst>
              <a:gd name="adj" fmla="val 4706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957816" y="1463040"/>
            <a:ext cx="640080" cy="64008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23" name="Image 3" descr="icons/Fa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11435" y="1616659"/>
            <a:ext cx="332842" cy="33284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171432" y="2240280"/>
            <a:ext cx="2212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Dedupe for free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9171432" y="2715768"/>
            <a:ext cx="22128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offender_flags is a Python set - the same vehicle flagged across 50 frames still produces exactly one entry.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640080" y="3886200"/>
            <a:ext cx="10908792" cy="2331720"/>
          </a:xfrm>
          <a:prstGeom prst="roundRect">
            <a:avLst>
              <a:gd name="adj" fmla="val 4706"/>
            </a:avLst>
          </a:prstGeom>
          <a:solidFill>
            <a:srgbClr val="1B2530"/>
          </a:solidFill>
          <a:ln/>
        </p:spPr>
      </p:sp>
      <p:sp>
        <p:nvSpPr>
          <p:cNvPr id="27" name="Shape 21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8" name="Image 4" descr="icons/FaEy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019" y="4314139"/>
            <a:ext cx="332842" cy="33284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9164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parallel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914400" y="47091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540: a truck blocks the light. No detection, no flag issued. Frame 541: the light is visible again as red - every vehicle currently in view (IDs 3, 7, 12) is flagged in that instant.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behaves like a referee who only blows the whistle when they can actually see the foul - never while play is blocked from view, and never retroactively once it clears.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Pixel Motion Into Real km/h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08792" cy="868680"/>
          </a:xfrm>
          <a:prstGeom prst="roundRect">
            <a:avLst>
              <a:gd name="adj" fmla="val 12632"/>
            </a:avLst>
          </a:prstGeom>
          <a:solidFill>
            <a:srgbClr val="EAEFF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8872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close to the camera covers far more pixels per second than an identical car the same real speed away in the distance - the same way your thumb at arm's length can ‘cover’ the moon. Distance changes what a pixel of movement actually means.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08792" cy="713232"/>
          </a:xfrm>
          <a:prstGeom prst="roundRect">
            <a:avLst>
              <a:gd name="adj" fmla="val 15385"/>
            </a:avLst>
          </a:prstGeom>
          <a:solidFill>
            <a:srgbClr val="F2F5F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267712"/>
            <a:ext cx="475488" cy="47548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7" name="Image 0" descr="icons/FaLayer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77" y="2381829"/>
            <a:ext cx="247254" cy="24725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203704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RAFT optical flow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480560" y="2203704"/>
            <a:ext cx="6885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per-pixel motion between frames 20-40 apart; the median across the inner 60% of each vehicle's box is taken.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40080" y="2935224"/>
            <a:ext cx="10908792" cy="713232"/>
          </a:xfrm>
          <a:prstGeom prst="roundRect">
            <a:avLst>
              <a:gd name="adj" fmla="val 15385"/>
            </a:avLst>
          </a:prstGeom>
          <a:solidFill>
            <a:srgbClr val="F2F5F7"/>
          </a:solidFill>
          <a:ln/>
        </p:spPr>
      </p:sp>
      <p:sp>
        <p:nvSpPr>
          <p:cNvPr id="11" name="Shape 8"/>
          <p:cNvSpPr/>
          <p:nvPr/>
        </p:nvSpPr>
        <p:spPr>
          <a:xfrm>
            <a:off x="822960" y="3054096"/>
            <a:ext cx="475488" cy="47548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2" name="Image 1" descr="icons/FaLayerGro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77" y="3168213"/>
            <a:ext cx="247254" cy="247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2990088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Depth Anything V2 scale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480560" y="2990088"/>
            <a:ext cx="6885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depth x known vehicle height = real metres-per-pixel, recalculated continuously per track.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3721608"/>
            <a:ext cx="10908792" cy="713232"/>
          </a:xfrm>
          <a:prstGeom prst="roundRect">
            <a:avLst>
              <a:gd name="adj" fmla="val 15385"/>
            </a:avLst>
          </a:prstGeom>
          <a:solidFill>
            <a:srgbClr val="F2F5F7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3840480"/>
            <a:ext cx="475488" cy="47548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17" name="Image 2" descr="icons/FaGaugeHig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077" y="3954597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776472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speed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480560" y="3776472"/>
            <a:ext cx="6885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motion x metres-per-pixel ÷ elapsed time x 3.6 = km/h.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507992"/>
            <a:ext cx="10908792" cy="713232"/>
          </a:xfrm>
          <a:prstGeom prst="roundRect">
            <a:avLst>
              <a:gd name="adj" fmla="val 15385"/>
            </a:avLst>
          </a:prstGeom>
          <a:solidFill>
            <a:srgbClr val="F2F5F7"/>
          </a:solidFill>
          <a:ln/>
        </p:spPr>
      </p:sp>
      <p:sp>
        <p:nvSpPr>
          <p:cNvPr id="21" name="Shape 16"/>
          <p:cNvSpPr/>
          <p:nvPr/>
        </p:nvSpPr>
        <p:spPr>
          <a:xfrm>
            <a:off x="822960" y="4626864"/>
            <a:ext cx="475488" cy="47548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2" name="Image 3" descr="icons/FaChart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077" y="4740981"/>
            <a:ext cx="247254" cy="24725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4562856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Kalman filter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480560" y="4562856"/>
            <a:ext cx="6885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Smooths frame-to-frame noise, trusting its own prediction over any single noisy reading.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640080" y="5294376"/>
            <a:ext cx="10908792" cy="713232"/>
          </a:xfrm>
          <a:prstGeom prst="roundRect">
            <a:avLst>
              <a:gd name="adj" fmla="val 15385"/>
            </a:avLst>
          </a:prstGeom>
          <a:solidFill>
            <a:srgbClr val="F2F5F7"/>
          </a:solidFill>
          <a:ln/>
        </p:spPr>
      </p:sp>
      <p:sp>
        <p:nvSpPr>
          <p:cNvPr id="26" name="Shape 20"/>
          <p:cNvSpPr/>
          <p:nvPr/>
        </p:nvSpPr>
        <p:spPr>
          <a:xfrm>
            <a:off x="822960" y="5413248"/>
            <a:ext cx="475488" cy="475488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7" name="Image 4" descr="icons/Fa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077" y="5527365"/>
            <a:ext cx="247254" cy="24725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5349240"/>
            <a:ext cx="2926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Median buffer + display gate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4480560" y="5349240"/>
            <a:ext cx="688543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rolling 9-frame median rejects spikes; the on-screen number only updates past a 2 km/h change, so it never flickers.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Calculation, Step by Step</a:t>
            </a:r>
            <a:endParaRPr lang="en-US" sz="3000" dirty="0"/>
          </a:p>
        </p:txBody>
      </p:sp>
      <p:pic>
        <p:nvPicPr>
          <p:cNvPr id="3" name="Image 0" descr="images/depth_sample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5356" y="1051560"/>
            <a:ext cx="8778240" cy="257438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705356" y="1051560"/>
            <a:ext cx="8778240" cy="2574388"/>
          </a:xfrm>
          <a:prstGeom prst="rect">
            <a:avLst/>
          </a:prstGeom>
          <a:ln w="12700">
            <a:solidFill>
              <a:srgbClr val="EAEFF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0080" y="3699100"/>
            <a:ext cx="10908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output from the notebook: original frame (left) vs. its Depth Anything V2 map (right, inferno colourmap - bright = close, dark = far), with the vehicle ROI outlined in yellow.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640080" y="4128868"/>
            <a:ext cx="10908792" cy="2454812"/>
          </a:xfrm>
          <a:prstGeom prst="roundRect">
            <a:avLst>
              <a:gd name="adj" fmla="val 4470"/>
            </a:avLst>
          </a:prstGeom>
          <a:solidFill>
            <a:srgbClr val="1B2530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42751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A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ID 7 - Frame 120 - 30 fps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4622644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measures 14 px of motion over 20 frames  -  Depth Anything V2 reads centroid depth 0.35  -  class = car (height prior 1.5 m)  -  detected box height = 130 px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914400" y="5043268"/>
            <a:ext cx="10332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mpp = (1.5 / 130) x 0.35 = 0.00404 m/px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distance = 14 x 0.00404 = 0.0566 m over 20 frames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elapsed = 20 / 30 fps = 0.667 s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speed = (0.0566 / 0.667) x 3.6 = 1.10 km/h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Plates Without Trusting a Single Frame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10908792" cy="777240"/>
          </a:xfrm>
          <a:prstGeom prst="roundRect">
            <a:avLst>
              <a:gd name="adj" fmla="val 14118"/>
            </a:avLst>
          </a:prstGeom>
          <a:solidFill>
            <a:srgbClr val="EAEFF3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170432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detective doesn't trust one blurry CCTV freeze-frame of a getaway car's plate - they pull several of the clearest frames and see which reading agrees most often. Namikaze Sama does exactly that, automatically.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2542032" cy="2148840"/>
          </a:xfrm>
          <a:prstGeom prst="roundRect">
            <a:avLst>
              <a:gd name="adj" fmla="val 5106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13916" y="2304288"/>
            <a:ext cx="594360" cy="59436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7" name="Image 0" descr="icons/FaCame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6562" y="2446934"/>
            <a:ext cx="309067" cy="30906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" y="30175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Buffer the best 5 crops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3456432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plate detection inside a vehicle's box is kept, sorted by confidence, capped at 5 per track.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29000" y="2103120"/>
            <a:ext cx="2542032" cy="2148840"/>
          </a:xfrm>
          <a:prstGeom prst="roundRect">
            <a:avLst>
              <a:gd name="adj" fmla="val 5106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2836" y="2304288"/>
            <a:ext cx="594360" cy="59436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12" name="Image 1" descr="icons/FaMagnifyingGla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5482" y="2446934"/>
            <a:ext cx="309067" cy="30906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75304" y="30175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Read every crop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3575304" y="3456432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vehicle leaves frame, EasyOCR (CRAFT + CRNN) reads all buffered crops - not just one.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2103120"/>
            <a:ext cx="2542032" cy="2148840"/>
          </a:xfrm>
          <a:prstGeom prst="roundRect">
            <a:avLst>
              <a:gd name="adj" fmla="val 5106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191756" y="2304288"/>
            <a:ext cx="594360" cy="59436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17" name="Image 2" descr="icons/Fa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402" y="2446934"/>
            <a:ext cx="309067" cy="30906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64224" y="30175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Majority vote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6364224" y="3456432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Non-alphanumeric characters are stripped; the most frequent clean reading wins, ties favour the highest-confidence crop.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9006840" y="2103120"/>
            <a:ext cx="2542032" cy="2148840"/>
          </a:xfrm>
          <a:prstGeom prst="roundRect">
            <a:avLst>
              <a:gd name="adj" fmla="val 5106"/>
            </a:avLst>
          </a:prstGeom>
          <a:solidFill>
            <a:srgbClr val="F2F5F7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9980676" y="2304288"/>
            <a:ext cx="594360" cy="59436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22" name="Image 3" descr="icons/Fa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23322" y="2446934"/>
            <a:ext cx="309067" cy="30906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153144" y="301752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One row per vehicle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9153144" y="3456432"/>
            <a:ext cx="22494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track_id, vehicle_type, plate_number, speed_kmh, speed_method, violation_type, snapshot_path → offender_log.csv.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" y="4526280"/>
            <a:ext cx="10908792" cy="1691640"/>
          </a:xfrm>
          <a:prstGeom prst="roundRect">
            <a:avLst>
              <a:gd name="adj" fmla="val 6486"/>
            </a:avLst>
          </a:prstGeom>
          <a:solidFill>
            <a:srgbClr val="1B2530"/>
          </a:solidFill>
          <a:ln/>
        </p:spPr>
      </p:sp>
      <p:sp>
        <p:nvSpPr>
          <p:cNvPr id="26" name="Shape 20"/>
          <p:cNvSpPr/>
          <p:nvPr/>
        </p:nvSpPr>
        <p:spPr>
          <a:xfrm>
            <a:off x="914400" y="4754880"/>
            <a:ext cx="548640" cy="5486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27" name="Image 4" descr="icons/FaCarSi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6074" y="488655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00200" y="4736592"/>
            <a:ext cx="9692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3, a truck, doing 67 km/h past a red light.</a:t>
            </a:r>
            <a:endParaRPr lang="en-US" sz="13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buffered reads: ABC123NG, ABC123NG, AB0123NG, ABC123NG, UNREADABLE → majority vote: </a:t>
            </a: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ABC123NG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violation_type = </a:t>
            </a: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'speeding,red_light'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Well Each Trained Model Performs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234440"/>
          <a:ext cx="10908792" cy="2103120"/>
        </p:xfrm>
        <a:graphic>
          <a:graphicData uri="http://schemas.openxmlformats.org/drawingml/2006/table">
            <a:tbl>
              <a:tblPr/>
              <a:tblGrid>
                <a:gridCol w="40507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Model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Precision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Recall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mAP50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mAP50-95</a:t>
                      </a:r>
                      <a:endParaRPr lang="en-US" sz="13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Traffic Light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95.65%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97.91%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72.11%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Vehicle Type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94.83%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63.13%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Licence Plate Detection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94.31%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84.37%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63.40%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40080" y="3611880"/>
            <a:ext cx="10908792" cy="2606040"/>
          </a:xfrm>
          <a:prstGeom prst="roundRect">
            <a:avLst>
              <a:gd name="adj" fmla="val 4211"/>
            </a:avLst>
          </a:prstGeom>
          <a:solidFill>
            <a:srgbClr val="EAEFF3"/>
          </a:solidFill>
          <a:ln/>
        </p:spPr>
      </p:sp>
      <p:sp>
        <p:nvSpPr>
          <p:cNvPr id="5" name="Shape 2"/>
          <p:cNvSpPr/>
          <p:nvPr/>
        </p:nvSpPr>
        <p:spPr>
          <a:xfrm>
            <a:off x="914400" y="3858768"/>
            <a:ext cx="548640" cy="548640"/>
          </a:xfrm>
          <a:prstGeom prst="ellipse">
            <a:avLst/>
          </a:prstGeom>
          <a:solidFill>
            <a:srgbClr val="3D5A73"/>
          </a:solidFill>
          <a:ln/>
        </p:spPr>
      </p:sp>
      <p:pic>
        <p:nvPicPr>
          <p:cNvPr id="6" name="Image 0" descr="icons/Fa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074" y="3990442"/>
            <a:ext cx="285293" cy="28529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00200" y="3858768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there's no single ‘accuracy’ number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600200" y="429768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detectors don't get a single yes/no score the way a classifier does. </a:t>
            </a:r>
            <a:r>
              <a:rPr lang="en-US" sz="12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answers ‘when the model says red light, how often is it actually red?’; </a:t>
            </a:r>
            <a:r>
              <a:rPr lang="en-US" sz="12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answers ‘of every red light that really appeared, how many did it catch?’. </a:t>
            </a:r>
            <a:r>
              <a:rPr lang="en-US" sz="12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</a:t>
            </a: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standard combined score at a forgiving box-overlap threshold; </a:t>
            </a:r>
            <a:r>
              <a:rPr lang="en-US" sz="1250" b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mAP50-95</a:t>
            </a:r>
            <a:r>
              <a:rPr lang="en-US" sz="12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strict version that only rewards near-pixel-perfect boxes - which is exactly why it reads noticeably lower for every model above.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</a:t>
            </a:r>
            <a:r>
              <a:rPr lang="en-US" sz="3000" b="1" dirty="0" smtClean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Project </a:t>
            </a: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Falls Short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90472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4" name="Image 0" descr="icons/FaTriangle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1593342"/>
            <a:ext cx="251460" cy="2514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1417320"/>
            <a:ext cx="4636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24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speed limit </a:t>
            </a:r>
            <a:r>
              <a:rPr lang="en-US" sz="2400" dirty="0" smtClean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 </a:t>
            </a:r>
            <a:r>
              <a:rPr lang="en-US" sz="24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km/h) - must be set to the road's real legal limit before deployment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40080" y="4172728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7" name="Image 1" descr="icons/FaTriangle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810" y="4631436"/>
            <a:ext cx="251460" cy="25146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61872" y="4162806"/>
            <a:ext cx="4636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depth drifts frame-to-frame - only an approximate metric bridge, not absolute distance</a:t>
            </a:r>
            <a:endParaRPr lang="en-US" sz="2400" dirty="0"/>
          </a:p>
        </p:txBody>
      </p:sp>
      <p:pic>
        <p:nvPicPr>
          <p:cNvPr id="10" name="Image 2" descr="icons/FaTriangle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4190238"/>
            <a:ext cx="251460" cy="25146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291072" y="1490472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6" name="Image 4" descr="icons/FaTriangle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942" y="1593342"/>
            <a:ext cx="251460" cy="25146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6912864" y="1417320"/>
            <a:ext cx="4636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2400" dirty="0" smtClean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real </a:t>
            </a:r>
            <a:r>
              <a:rPr lang="en-US" sz="24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always None - only the frame number is logged, not wall-clock time</a:t>
            </a:r>
            <a:endParaRPr lang="en-US" sz="2400" dirty="0"/>
          </a:p>
        </p:txBody>
      </p:sp>
      <p:sp>
        <p:nvSpPr>
          <p:cNvPr id="18" name="Shape 11"/>
          <p:cNvSpPr/>
          <p:nvPr/>
        </p:nvSpPr>
        <p:spPr>
          <a:xfrm>
            <a:off x="6295352" y="4169324"/>
            <a:ext cx="457200" cy="45720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9" name="Image 5" descr="icons/FaTriangle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627" y="4272194"/>
            <a:ext cx="251460" cy="25146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6915607" y="4037076"/>
            <a:ext cx="4636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2400" dirty="0">
                <a:solidFill>
                  <a:srgbClr val="18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RAFT runs on the full frame, wasting compute the ROI never needed</a:t>
            </a:r>
            <a:endParaRPr lang="en-US" sz="2400" dirty="0"/>
          </a:p>
        </p:txBody>
      </p:sp>
      <p:pic>
        <p:nvPicPr>
          <p:cNvPr id="25" name="Image 7" descr="icons/FaTriangleExclam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942" y="5488686"/>
            <a:ext cx="251460" cy="2514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</a:t>
            </a:r>
            <a:r>
              <a:rPr lang="en-US" sz="3000" b="1" dirty="0" smtClean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 Project </a:t>
            </a:r>
            <a:r>
              <a:rPr lang="en-US" sz="3000" b="1" dirty="0">
                <a:solidFill>
                  <a:srgbClr val="18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Stands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188720"/>
          <a:ext cx="10908792" cy="4206237"/>
        </p:xfrm>
        <a:graphic>
          <a:graphicData uri="http://schemas.openxmlformats.org/drawingml/2006/table">
            <a:tbl>
              <a:tblPr/>
              <a:tblGrid>
                <a:gridCol w="3136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87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96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Feature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jayy-agu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Nabeel-99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2A900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Namikaze Sama</a:t>
                      </a:r>
                      <a:endParaRPr lang="en-US" sz="12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estimation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Homography + EMA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RAFT + Depth V2 + Kalman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Calibration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camera-specific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automatic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Traffic light detection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HSV heuristic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Trained YOLOv11 classifier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Licence plate OCR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Live, single crop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Post-processing, majority vote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Offender logging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JSON, speed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CSV, red-light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CSV: speed + red-light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824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Custom-trained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Pretrained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B6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fine-tuning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E8B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custom-trained models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623560"/>
            <a:ext cx="109087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 err="1" smtClean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NThis</a:t>
            </a:r>
            <a:r>
              <a:rPr lang="en-US" sz="1250" i="1" dirty="0" smtClean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is </a:t>
            </a: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one of the three that detects the traffic light itself, estimates speed without manual calibration, and trains its own models end to end.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6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2928" y="1554480"/>
            <a:ext cx="1005840" cy="1005840"/>
          </a:xfrm>
          <a:prstGeom prst="ellipse">
            <a:avLst/>
          </a:prstGeom>
          <a:solidFill>
            <a:srgbClr val="F2A900"/>
          </a:solidFill>
          <a:ln/>
        </p:spPr>
      </p:sp>
      <p:pic>
        <p:nvPicPr>
          <p:cNvPr id="3" name="Image 0" descr="icons/FaFlagCheck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4388" y="180594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8892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F2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5989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Namikaze Sama - Smart </a:t>
            </a:r>
            <a:r>
              <a:rPr lang="en-US" sz="1200" dirty="0" smtClean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 </a:t>
            </a:r>
            <a:r>
              <a:rPr lang="en-US" sz="1200" dirty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Speed Detection System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0" y="6291072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 smtClean="0">
                <a:solidFill>
                  <a:srgbClr val="A9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1 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291</TotalTime>
  <Words>1548</Words>
  <Application>Microsoft Office PowerPoint</Application>
  <PresentationFormat>Widescreen</PresentationFormat>
  <Paragraphs>166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游ゴシック</vt:lpstr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Namikaze Sama - Smart Traffic &amp; Speed Detection System</dc:title>
  <dc:subject>PptxGenJS Presentation</dc:subject>
  <dc:creator>Abd Rahman</dc:creator>
  <cp:lastModifiedBy>Abdulrahman Yusuf</cp:lastModifiedBy>
  <cp:revision>5</cp:revision>
  <dcterms:created xsi:type="dcterms:W3CDTF">2026-06-24T19:19:16Z</dcterms:created>
  <dcterms:modified xsi:type="dcterms:W3CDTF">2026-06-25T18:39:08Z</dcterms:modified>
</cp:coreProperties>
</file>